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Supply Chain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8288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BD5E1"/>
                </a:solidFill>
              </a:defRPr>
            </a:pPr>
            <a:r>
              <a:t>Predict future product demand at different supply-chain levels and keep all forecasts consistent.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4612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TFT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Understands demand over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4612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80560" y="324612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GNN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Understands connections between locations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246120"/>
            <a:ext cx="7315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3246120"/>
            <a:ext cx="3200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16A34A"/>
                </a:solidFill>
              </a:defRPr>
            </a:pPr>
            <a:r>
              <a:t>MinT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Makes forecasts add up correctly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3246120"/>
            <a:ext cx="73152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Internal Hackathon • Presented by Deepanshu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Different parts of the supply chain can make different forecasts.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035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DC2626"/>
                </a:solidFill>
              </a:defRPr>
            </a:pPr>
            <a:r>
              <a:t>Example of a mismatch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National forecast: 100,000 units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Regional forecasts total: 105,000 units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Difference: 5,000 units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2011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EA580C"/>
                </a:solidFill>
              </a:defRPr>
            </a:pPr>
            <a:r>
              <a:t>Excess inventory &amp; stockouts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Some locations may have too much stock while others have too little.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73152" cy="1234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Bullwhip effect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Small demand changes can become much bigger changes upstream.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34640"/>
            <a:ext cx="731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425196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Higher costs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Money can get stuck in the wrong inventory or safety stock.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25196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2. Five Levels of the Supply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The lower levels should add up to the higher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840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NATIONAL — Total demand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14600" y="1947672"/>
            <a:ext cx="4114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3840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REGION — Regional demand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14600" y="2816352"/>
            <a:ext cx="4114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063239"/>
            <a:ext cx="3840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RDC — Distribution center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14600" y="3685031"/>
            <a:ext cx="4114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931920"/>
            <a:ext cx="3840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STORE — Store demand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14600" y="4553712"/>
            <a:ext cx="4114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4800600"/>
            <a:ext cx="3840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A34A"/>
                </a:solidFill>
              </a:defRPr>
            </a:pPr>
            <a:r>
              <a:t>SKU — One specific product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417320"/>
            <a:ext cx="5669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16A34A"/>
                </a:solidFill>
              </a:defRPr>
            </a:pPr>
            <a:r>
              <a:t>Simple rule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Store A + Store B + Store C = their RDC total.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RDC totals = regional total.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Regional totals = national total.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417320"/>
            <a:ext cx="73152" cy="1920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0" y="3657600"/>
            <a:ext cx="5669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Why this matters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Everyone can plan using one consistent set of numbers instead of manually changing forecasts.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365760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3. How the System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Four simple steps from raw data to the final forecast.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Collect data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Demand, weather, prices, locations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645920"/>
            <a:ext cx="73152" cy="27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EA580C"/>
                </a:solidFill>
              </a:defRPr>
            </a:pPr>
            <a:r>
              <a:t>Prepare features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Past demand, calendar, location and other useful signals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73152" cy="2743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1143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A580C"/>
                </a:solidFill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64592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Make forecasts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TFT handles time; GNN handles location relationships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645920"/>
            <a:ext cx="73152" cy="2743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43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C3AED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64592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16A34A"/>
                </a:solidFill>
              </a:defRPr>
            </a:pPr>
            <a:r>
              <a:t>Fix consistency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MinT makes the forecasts agree across all levels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645920"/>
            <a:ext cx="73152" cy="2743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1143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A34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4. Two Main AI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Each model solves a different part of the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3035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TFT — Temporal Fusion Transformer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• Learns patterns over time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• Uses past demand and seasonal patterns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• Can use time-changing information such as price or promotions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Easy way to remember: TFT =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3035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GNN — Graph Neural Network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• Treats stores and warehouses as connected points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• Learns from nearby or connected locations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• Uses distance and supply-chain connections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Easy way to remember: GNN = CONNECTIONS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73152" cy="3474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0" y="5257800"/>
            <a:ext cx="75895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16A34A"/>
                </a:solidFill>
              </a:defRPr>
            </a:pPr>
            <a:r>
              <a:t>Together</a:t>
            </a:r>
          </a:p>
          <a:p>
            <a:pPr>
              <a:spcAft>
                <a:spcPts val="500"/>
              </a:spcAft>
              <a:defRPr sz="1700">
                <a:solidFill>
                  <a:srgbClr val="1E293B"/>
                </a:solidFill>
              </a:defRPr>
            </a:pPr>
            <a:r>
              <a:t>TFT tells us WHEN demand changes; GNN tells us WHERE connected demand changes.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257800"/>
            <a:ext cx="73152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5. MinT: Making Forecasts Consistent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MinT is the final correction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Base forecasts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46120" y="1874519"/>
            <a:ext cx="41148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49039" y="1645920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A34A"/>
                </a:solidFill>
              </a:defRPr>
            </a:pPr>
            <a:r>
              <a:t>MinT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172200" y="1874519"/>
            <a:ext cx="411480" cy="32004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0" y="1645920"/>
            <a:ext cx="3840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Coherent forecasts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08960"/>
            <a:ext cx="4937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16A34A"/>
                </a:solidFill>
              </a:defRPr>
            </a:pPr>
            <a:r>
              <a:t>What MinT does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It changes the initial forecasts so that lower-level numbers add up to the higher-level numbers.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108960"/>
            <a:ext cx="73152" cy="1920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3108960"/>
            <a:ext cx="49377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Why use it?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</a:defRPr>
            </a:pPr>
            <a:r>
              <a:t>It tries to reduce overall forecast error while keeping the hierarchy consistent.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108960"/>
            <a:ext cx="73152" cy="1920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6. Information Given to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We use four types of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6060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Time information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Previous demand (t-1, t-7, t-30)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Moving averages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Day of week and seasonality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73152" cy="3383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10712" y="1463040"/>
            <a:ext cx="26060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Location information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Store and RDC locations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Distance between places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Transport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0712" y="1463040"/>
            <a:ext cx="73152" cy="3383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18504" y="1463040"/>
            <a:ext cx="26060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EA580C"/>
                </a:solidFill>
              </a:defRPr>
            </a:pPr>
            <a:r>
              <a:t>Business information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Price and discounts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Promotions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Stockout information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18504" y="1463040"/>
            <a:ext cx="73152" cy="3383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26296" y="1463040"/>
            <a:ext cx="26060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16A34A"/>
                </a:solidFill>
              </a:defRPr>
            </a:pPr>
            <a:r>
              <a:t>Outside factors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Temperature and rain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Holidays and festivals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</a:defRPr>
            </a:pPr>
            <a:r>
              <a:t>Economic indicators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26296" y="1463040"/>
            <a:ext cx="73152" cy="33832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7. Forecasts for Different Time Periods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Different decisions need different forecast horizons.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16A34A"/>
                </a:solidFill>
              </a:defRPr>
            </a:pPr>
            <a:r>
              <a:t>Short term: 1–7 days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Used for: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• Store replenishment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• Daily truck routing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• Immediate safety-stock alerts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Question: What do we need this week?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463040"/>
            <a:ext cx="73152" cy="3474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Medium term: 14–28 days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Used for: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• Distribution planning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• Balancing inventory between RDCs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• Warehouse planning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Question: What will we need in the next few weeks?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73152" cy="3474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92440" y="146304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Long term: 1–3 months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Used for: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• Supplier planning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• Factory production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• Raw-material orders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Question: What should we buy or produce?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463040"/>
            <a:ext cx="73152" cy="3474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8. Reported Model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RMSSE is the main error measure in the original PPT.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234440"/>
            <a:ext cx="64008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Seasonal Naive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234440"/>
            <a:ext cx="18288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1.00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892808"/>
            <a:ext cx="64008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LightGBM / XGBoost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892808"/>
            <a:ext cx="18288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0.82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51176"/>
            <a:ext cx="64008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N-BEATS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551176"/>
            <a:ext cx="18288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0.74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09544"/>
            <a:ext cx="64008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TFT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3209544"/>
            <a:ext cx="18288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0.65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867912"/>
            <a:ext cx="64008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TFT + GNN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3867912"/>
            <a:ext cx="18288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0.58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26279"/>
            <a:ext cx="64008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A34A"/>
                </a:solidFill>
              </a:defRPr>
            </a:pPr>
            <a:r>
              <a:t>TFT + GNN + MinT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526279"/>
            <a:ext cx="182880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A34A"/>
                </a:solidFill>
              </a:defRPr>
            </a:pPr>
            <a:r>
              <a:t>0.49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234440"/>
            <a:ext cx="1828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RMSSE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Lower value = lower reported forecast error.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Final reported value: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0.49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Other metrics mentioned: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</a:defRPr>
            </a:pPr>
            <a:r>
              <a:t>MAE, RMSE, WAPE, Forecast Bias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1234440"/>
            <a:ext cx="73152" cy="4434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9. Business Benefits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How the system can help and what can be added later.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75569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Demand planners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One common forecast across locations.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16A34A"/>
                </a:solidFill>
              </a:defRPr>
            </a:pPr>
            <a:r>
              <a:t>Inventory managers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The original PPT reports up to 22% lower safety-stock holding costs.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697480"/>
            <a:ext cx="73152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4251960"/>
            <a:ext cx="53035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Supply-chain directors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Better coordination between procurement and demand planning.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25196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EA580C"/>
                </a:solidFill>
              </a:defRPr>
            </a:pPr>
            <a:r>
              <a:t>Future: Uncertainty ranges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Show a likely range of demand, not only one number.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73152" cy="1325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288036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Future: Digital twin + ERP/WMS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Connect the forecast system to business and warehouse systems.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880360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443484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16A34A"/>
                </a:solidFill>
              </a:defRPr>
            </a:pPr>
            <a:r>
              <a:t>Future: Dynamic graph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</a:defRPr>
            </a:pPr>
            <a:r>
              <a:t>Update location relationships when traffic or disruptions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434840"/>
            <a:ext cx="73152" cy="1325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Simple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2563EB"/>
                </a:solidFill>
              </a:defRPr>
            </a:pPr>
            <a:r>
              <a:t>TFT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Understands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80560" y="192024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7C3AED"/>
                </a:solidFill>
              </a:defRPr>
            </a:pPr>
            <a:r>
              <a:t>GNN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Understands CONNECTIONS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920240"/>
            <a:ext cx="73152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192024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64592" wrap="square"/>
          <a:lstStyle/>
          <a:p>
            <a:pPr algn="ctr">
              <a:defRPr sz="1700" b="1">
                <a:solidFill>
                  <a:srgbClr val="16A34A"/>
                </a:solidFill>
              </a:defRPr>
            </a:pPr>
            <a:r>
              <a:t>MinT</a:t>
            </a:r>
          </a:p>
          <a:p>
            <a:pPr>
              <a:spcAft>
                <a:spcPts val="500"/>
              </a:spcAft>
              <a:defRPr sz="1900">
                <a:solidFill>
                  <a:srgbClr val="1E293B"/>
                </a:solidFill>
              </a:defRPr>
            </a:pPr>
            <a:r>
              <a:t>Makes forecasts CONSISTENT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920240"/>
            <a:ext cx="73152" cy="1371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Final idea: Predict demand → understand connected locations → make all forecasts agree.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66928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3C5FD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